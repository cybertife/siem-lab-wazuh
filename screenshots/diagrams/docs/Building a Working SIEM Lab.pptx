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Urbanist Medium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4D8AF2-F5CF-4DA9-ABD8-E8728FEEA08B}">
  <a:tblStyle styleId="{814D8AF2-F5CF-4DA9-ABD8-E8728FEEA0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SemiBold-regular.fntdata"/><Relationship Id="rId30" Type="http://schemas.openxmlformats.org/officeDocument/2006/relationships/font" Target="fonts/Urbanist-boldItalic.fntdata"/><Relationship Id="rId33" Type="http://schemas.openxmlformats.org/officeDocument/2006/relationships/font" Target="fonts/PoppinsSemiBold-italic.fntdata"/><Relationship Id="rId32" Type="http://schemas.openxmlformats.org/officeDocument/2006/relationships/font" Target="fonts/PoppinsSemiBold-bold.fntdata"/><Relationship Id="rId34" Type="http://schemas.openxmlformats.org/officeDocument/2006/relationships/font" Target="fonts/PoppinsSemiBold-boldItalic.fntdata"/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29" Type="http://schemas.openxmlformats.org/officeDocument/2006/relationships/font" Target="fonts/Urbanis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Poppins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612944242_0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f612944242_0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612944242_0_4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f612944242_0_4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612944242_0_3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f612944242_0_3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6129442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f6129442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612944242_0_7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f612944242_0_7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612944242_0_7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f612944242_0_7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612944242_0_7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f612944242_0_7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612944242_0_7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f612944242_0_7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612944242_0_7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f612944242_0_7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612944242_0_7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f612944242_0_7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612944242_0_5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612944242_0_5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368700" y="1106000"/>
            <a:ext cx="5490600" cy="1354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Working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SIEM Lab</a:t>
            </a:r>
            <a:endParaRPr/>
          </a:p>
        </p:txBody>
      </p:sp>
      <p:sp>
        <p:nvSpPr>
          <p:cNvPr id="619" name="Google Shape;619;p66"/>
          <p:cNvSpPr txBox="1"/>
          <p:nvPr/>
        </p:nvSpPr>
        <p:spPr>
          <a:xfrm>
            <a:off x="4626525" y="2490675"/>
            <a:ext cx="3158700" cy="15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D9D9"/>
                </a:solidFill>
              </a:rPr>
              <a:t>SOC Analyst Training Project Wazuh 4.14.6</a:t>
            </a:r>
            <a:endParaRPr b="1">
              <a:solidFill>
                <a:srgbClr val="D9D9D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9D9D9"/>
                </a:solidFill>
              </a:rPr>
              <a:t>Presented by:</a:t>
            </a:r>
            <a:br>
              <a:rPr b="1" lang="en" sz="1100">
                <a:solidFill>
                  <a:srgbClr val="D9D9D9"/>
                </a:solidFill>
              </a:rPr>
            </a:br>
            <a:r>
              <a:rPr lang="en" sz="1100">
                <a:solidFill>
                  <a:srgbClr val="D9D9D9"/>
                </a:solidFill>
              </a:rPr>
              <a:t> </a:t>
            </a:r>
            <a:r>
              <a:rPr b="1" lang="en" sz="1100">
                <a:solidFill>
                  <a:srgbClr val="D9D9D9"/>
                </a:solidFill>
              </a:rPr>
              <a:t>Tife</a:t>
            </a:r>
            <a:endParaRPr b="1" sz="1100">
              <a:solidFill>
                <a:srgbClr val="D9D9D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D9D9D9"/>
                </a:solidFill>
              </a:rPr>
              <a:t>Date: July, 2026.</a:t>
            </a:r>
            <a:endParaRPr sz="1100">
              <a:solidFill>
                <a:srgbClr val="D9D9D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/>
          <p:nvPr/>
        </p:nvSpPr>
        <p:spPr>
          <a:xfrm>
            <a:off x="1415101" y="452638"/>
            <a:ext cx="7296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24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7"/>
          <p:cNvSpPr/>
          <p:nvPr/>
        </p:nvSpPr>
        <p:spPr>
          <a:xfrm>
            <a:off x="1415201" y="898413"/>
            <a:ext cx="7296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 set out to build, and why it matters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7"/>
          <p:cNvSpPr/>
          <p:nvPr/>
        </p:nvSpPr>
        <p:spPr>
          <a:xfrm>
            <a:off x="1415200" y="1412763"/>
            <a:ext cx="437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Build a working SIEM ingesting logs from 3+ sources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Give a SOC analyst real visibility through 3+ live dashboards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Detect suspicious activity with 2+ custom correlation rules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it all on a single resource-constrained laptop no cloud budget, no lab hardware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7"/>
          <p:cNvSpPr/>
          <p:nvPr/>
        </p:nvSpPr>
        <p:spPr>
          <a:xfrm>
            <a:off x="6016104" y="1315165"/>
            <a:ext cx="2949000" cy="2949000"/>
          </a:xfrm>
          <a:prstGeom prst="roundRect">
            <a:avLst>
              <a:gd fmla="val 2326" name="adj"/>
            </a:avLst>
          </a:prstGeom>
          <a:solidFill>
            <a:srgbClr val="DCE6F1"/>
          </a:solidFill>
          <a:ln cap="flat" cmpd="sng" w="12700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8" name="Google Shape;628;p67"/>
          <p:cNvSpPr/>
          <p:nvPr/>
        </p:nvSpPr>
        <p:spPr>
          <a:xfrm>
            <a:off x="6158274" y="1452325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67"/>
          <p:cNvSpPr/>
          <p:nvPr/>
        </p:nvSpPr>
        <p:spPr>
          <a:xfrm>
            <a:off x="6158274" y="1760935"/>
            <a:ext cx="26061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SOC analyst's job starts with visibility. This lab mirrors that real workflow: collect logs, structure them, build views that answer real questions, and write detections that catch real attacker behavior brute force and living-off-the-land execution.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8"/>
          <p:cNvSpPr txBox="1"/>
          <p:nvPr>
            <p:ph type="title"/>
          </p:nvPr>
        </p:nvSpPr>
        <p:spPr>
          <a:xfrm>
            <a:off x="91125" y="1222200"/>
            <a:ext cx="3145500" cy="1117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Lab Environment</a:t>
            </a:r>
            <a:endParaRPr sz="3700"/>
          </a:p>
        </p:txBody>
      </p:sp>
      <p:pic>
        <p:nvPicPr>
          <p:cNvPr id="635" name="Google Shape;635;p68" title="SOC SIEM LAB ENVIRONMENT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625" y="0"/>
            <a:ext cx="60408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9"/>
          <p:cNvSpPr/>
          <p:nvPr/>
        </p:nvSpPr>
        <p:spPr>
          <a:xfrm>
            <a:off x="422843" y="864145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Three Log Sources</a:t>
            </a:r>
            <a:endParaRPr b="0" i="0" sz="24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9"/>
          <p:cNvSpPr/>
          <p:nvPr/>
        </p:nvSpPr>
        <p:spPr>
          <a:xfrm>
            <a:off x="422843" y="1309915"/>
            <a:ext cx="829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Linux, Windows + Sysmon, and a simulated firewall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2" name="Google Shape;642;p69"/>
          <p:cNvGraphicFramePr/>
          <p:nvPr/>
        </p:nvGraphicFramePr>
        <p:xfrm>
          <a:off x="422842" y="1892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{814D8AF2-F5CF-4DA9-ABD8-E8728FEEA08B}</a:tableStyleId>
              </a:tblPr>
              <a:tblGrid>
                <a:gridCol w="2194550"/>
                <a:gridCol w="3771900"/>
                <a:gridCol w="2331700"/>
              </a:tblGrid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provides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detail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C8A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Linux Endpoint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SSH / sudo auth events via Wazuh agent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for the brute-force correlation rule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+ Sysmon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creation, parent-child chains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SwiftOnSecurity baseline config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Simulated Firewall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Allow/deny traffic, source/destination IPs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 decoder over UDP syslog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70" title="Screenshot 2026-07-31 at 5.33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13" y="1175825"/>
            <a:ext cx="8768174" cy="37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70"/>
          <p:cNvSpPr/>
          <p:nvPr/>
        </p:nvSpPr>
        <p:spPr>
          <a:xfrm>
            <a:off x="199530" y="286195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Dashboard: Authentication Activity</a:t>
            </a:r>
            <a:endParaRPr b="0" i="0" sz="24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70"/>
          <p:cNvSpPr/>
          <p:nvPr/>
        </p:nvSpPr>
        <p:spPr>
          <a:xfrm>
            <a:off x="199530" y="731965"/>
            <a:ext cx="829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Successful vs. failed logins, and top offending accounts</a:t>
            </a:r>
            <a:endParaRPr b="0" i="0" sz="12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1"/>
          <p:cNvSpPr/>
          <p:nvPr/>
        </p:nvSpPr>
        <p:spPr>
          <a:xfrm>
            <a:off x="411480" y="274320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Dashboard: Endpoint Process Activity</a:t>
            </a:r>
            <a:endParaRPr b="0" i="0" sz="24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71"/>
          <p:cNvSpPr/>
          <p:nvPr/>
        </p:nvSpPr>
        <p:spPr>
          <a:xfrm>
            <a:off x="411480" y="720090"/>
            <a:ext cx="829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Most frequent processes, parent-child chains, live feed</a:t>
            </a:r>
            <a:endParaRPr b="0" i="0" sz="12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71" title="Screenshot 2026-07-31 at 5.33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181200"/>
            <a:ext cx="8520975" cy="380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2"/>
          <p:cNvSpPr/>
          <p:nvPr/>
        </p:nvSpPr>
        <p:spPr>
          <a:xfrm>
            <a:off x="411480" y="274320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</a:rPr>
              <a:t>Dashboard: Network Traffic Overview </a:t>
            </a:r>
            <a:endParaRPr b="1" sz="2400">
              <a:solidFill>
                <a:srgbClr val="3C78D8"/>
              </a:solidFill>
            </a:endParaRPr>
          </a:p>
        </p:txBody>
      </p:sp>
      <p:sp>
        <p:nvSpPr>
          <p:cNvPr id="662" name="Google Shape;662;p72"/>
          <p:cNvSpPr/>
          <p:nvPr/>
        </p:nvSpPr>
        <p:spPr>
          <a:xfrm>
            <a:off x="411480" y="720090"/>
            <a:ext cx="829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F3F3F3"/>
                </a:solidFill>
              </a:rPr>
              <a:t>traffic volume over time, top talkers</a:t>
            </a:r>
            <a:endParaRPr i="1" sz="1200">
              <a:solidFill>
                <a:srgbClr val="F3F3F3"/>
              </a:solidFill>
            </a:endParaRPr>
          </a:p>
        </p:txBody>
      </p:sp>
      <p:pic>
        <p:nvPicPr>
          <p:cNvPr id="663" name="Google Shape;663;p72" title="Screenshot 2026-07-31 at 5.34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216475"/>
            <a:ext cx="8532726" cy="38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3"/>
          <p:cNvSpPr/>
          <p:nvPr/>
        </p:nvSpPr>
        <p:spPr>
          <a:xfrm>
            <a:off x="284700" y="310375"/>
            <a:ext cx="756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Correlation Rule Firing End-to-End</a:t>
            </a:r>
            <a:endParaRPr b="0" i="0" sz="24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73"/>
          <p:cNvSpPr/>
          <p:nvPr/>
        </p:nvSpPr>
        <p:spPr>
          <a:xfrm>
            <a:off x="284700" y="756147"/>
            <a:ext cx="7569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Rule 100200 — 5+ failed logins in 5 minutes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73"/>
          <p:cNvSpPr/>
          <p:nvPr/>
        </p:nvSpPr>
        <p:spPr>
          <a:xfrm>
            <a:off x="284700" y="1201918"/>
            <a:ext cx="7569300" cy="1611600"/>
          </a:xfrm>
          <a:prstGeom prst="roundRect">
            <a:avLst>
              <a:gd fmla="val 3404" name="adj"/>
            </a:avLst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3"/>
          <p:cNvSpPr/>
          <p:nvPr/>
        </p:nvSpPr>
        <p:spPr>
          <a:xfrm>
            <a:off x="472365" y="1304789"/>
            <a:ext cx="71937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"level":10, "id":"100200",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"description":"Multiple authentication failures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(possible brute force attack) - 5+ failed logins in 5 minutes",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"frequency":5, "firedtimes":1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73"/>
          <p:cNvSpPr/>
          <p:nvPr/>
        </p:nvSpPr>
        <p:spPr>
          <a:xfrm>
            <a:off x="284700" y="2916426"/>
            <a:ext cx="75693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rPr lang="en" sz="1100">
                <a:solidFill>
                  <a:schemeClr val="lt1"/>
                </a:solidFill>
              </a:rPr>
              <a:t>A user attempts to log in and fails.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rPr lang="en" sz="1100">
                <a:solidFill>
                  <a:schemeClr val="lt1"/>
                </a:solidFill>
              </a:rPr>
              <a:t>Wazuh records each failed login event.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rPr lang="en" sz="1100">
                <a:solidFill>
                  <a:schemeClr val="lt1"/>
                </a:solidFill>
              </a:rPr>
              <a:t>The correlation rule counts the failed attempts.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rPr lang="en" sz="1100">
                <a:solidFill>
                  <a:schemeClr val="lt1"/>
                </a:solidFill>
              </a:rPr>
              <a:t>When the count reaches </a:t>
            </a:r>
            <a:r>
              <a:rPr b="1" lang="en" sz="1100">
                <a:solidFill>
                  <a:schemeClr val="lt1"/>
                </a:solidFill>
              </a:rPr>
              <a:t>5 within 5 minutes</a:t>
            </a:r>
            <a:r>
              <a:rPr lang="en" sz="1100">
                <a:solidFill>
                  <a:schemeClr val="lt1"/>
                </a:solidFill>
              </a:rPr>
              <a:t>, Rule </a:t>
            </a:r>
            <a:r>
              <a:rPr b="1" lang="en" sz="1100">
                <a:solidFill>
                  <a:schemeClr val="lt1"/>
                </a:solidFill>
              </a:rPr>
              <a:t>100200</a:t>
            </a:r>
            <a:r>
              <a:rPr lang="en" sz="1100">
                <a:solidFill>
                  <a:schemeClr val="lt1"/>
                </a:solidFill>
              </a:rPr>
              <a:t> is triggered.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rPr lang="en" sz="1100">
                <a:solidFill>
                  <a:schemeClr val="lt1"/>
                </a:solidFill>
              </a:rPr>
              <a:t>Wazuh generates a </a:t>
            </a:r>
            <a:r>
              <a:rPr b="1" lang="en" sz="1100">
                <a:solidFill>
                  <a:schemeClr val="lt1"/>
                </a:solidFill>
              </a:rPr>
              <a:t>Level 10 High Severity</a:t>
            </a:r>
            <a:r>
              <a:rPr lang="en" sz="1100">
                <a:solidFill>
                  <a:schemeClr val="lt1"/>
                </a:solidFill>
              </a:rPr>
              <a:t> alert.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rPr lang="en" sz="1100">
                <a:solidFill>
                  <a:schemeClr val="lt1"/>
                </a:solidFill>
              </a:rPr>
              <a:t>The SOC analyst can investigate whether the activity is a legitimate user making mistakes or an attacker attempting a brute-force attack.</a:t>
            </a:r>
            <a:endParaRPr sz="1100">
              <a:solidFill>
                <a:schemeClr val="lt1"/>
              </a:solidFill>
            </a:endParaRPr>
          </a:p>
          <a:p>
            <a:pPr indent="-2603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4"/>
          <p:cNvSpPr txBox="1"/>
          <p:nvPr>
            <p:ph idx="1" type="subTitle"/>
          </p:nvPr>
        </p:nvSpPr>
        <p:spPr>
          <a:xfrm>
            <a:off x="553525" y="1578393"/>
            <a:ext cx="18168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3C78D8"/>
                </a:solidFill>
              </a:rPr>
              <a:t>Challenges</a:t>
            </a:r>
            <a:endParaRPr sz="2600">
              <a:solidFill>
                <a:srgbClr val="3C78D8"/>
              </a:solidFill>
            </a:endParaRPr>
          </a:p>
        </p:txBody>
      </p:sp>
      <p:sp>
        <p:nvSpPr>
          <p:cNvPr id="678" name="Google Shape;678;p74"/>
          <p:cNvSpPr txBox="1"/>
          <p:nvPr>
            <p:ph idx="2" type="subTitle"/>
          </p:nvPr>
        </p:nvSpPr>
        <p:spPr>
          <a:xfrm>
            <a:off x="553525" y="1993980"/>
            <a:ext cx="3520500" cy="180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My machine had limited resources running multiple virtual machines simulating. Which was causing noticeable shutdowns.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Custom rules were not triggering because the decoder was not passing the fields correctly</a:t>
            </a:r>
            <a:endParaRPr/>
          </a:p>
        </p:txBody>
      </p:sp>
      <p:sp>
        <p:nvSpPr>
          <p:cNvPr id="679" name="Google Shape;679;p74"/>
          <p:cNvSpPr/>
          <p:nvPr/>
        </p:nvSpPr>
        <p:spPr>
          <a:xfrm rot="10800000">
            <a:off x="284698" y="220801"/>
            <a:ext cx="1015800" cy="10158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0" name="Google Shape;680;p74"/>
          <p:cNvSpPr/>
          <p:nvPr/>
        </p:nvSpPr>
        <p:spPr>
          <a:xfrm rot="-5400000">
            <a:off x="284699" y="729297"/>
            <a:ext cx="507300" cy="50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74"/>
          <p:cNvSpPr/>
          <p:nvPr/>
        </p:nvSpPr>
        <p:spPr>
          <a:xfrm>
            <a:off x="791999" y="729301"/>
            <a:ext cx="507300" cy="50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2" name="Google Shape;682;p74"/>
          <p:cNvSpPr/>
          <p:nvPr/>
        </p:nvSpPr>
        <p:spPr>
          <a:xfrm rot="-5400000">
            <a:off x="1069023" y="-287099"/>
            <a:ext cx="1015800" cy="10158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74"/>
          <p:cNvSpPr/>
          <p:nvPr/>
        </p:nvSpPr>
        <p:spPr>
          <a:xfrm rot="-5400000">
            <a:off x="1069024" y="221397"/>
            <a:ext cx="507300" cy="50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4" name="Google Shape;684;p74"/>
          <p:cNvSpPr/>
          <p:nvPr/>
        </p:nvSpPr>
        <p:spPr>
          <a:xfrm>
            <a:off x="1069024" y="-287099"/>
            <a:ext cx="507300" cy="50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5" name="Google Shape;685;p74"/>
          <p:cNvSpPr/>
          <p:nvPr/>
        </p:nvSpPr>
        <p:spPr>
          <a:xfrm>
            <a:off x="7745573" y="196901"/>
            <a:ext cx="1015800" cy="10158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6" name="Google Shape;686;p74"/>
          <p:cNvSpPr/>
          <p:nvPr/>
        </p:nvSpPr>
        <p:spPr>
          <a:xfrm rot="-5400000">
            <a:off x="7744374" y="196897"/>
            <a:ext cx="507300" cy="50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7" name="Google Shape;687;p74"/>
          <p:cNvSpPr/>
          <p:nvPr/>
        </p:nvSpPr>
        <p:spPr>
          <a:xfrm>
            <a:off x="8254074" y="196901"/>
            <a:ext cx="507300" cy="50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88" name="Google Shape;688;p74"/>
          <p:cNvCxnSpPr/>
          <p:nvPr/>
        </p:nvCxnSpPr>
        <p:spPr>
          <a:xfrm rot="10800000">
            <a:off x="4527413" y="1378600"/>
            <a:ext cx="0" cy="296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74"/>
          <p:cNvSpPr txBox="1"/>
          <p:nvPr>
            <p:ph idx="1" type="subTitle"/>
          </p:nvPr>
        </p:nvSpPr>
        <p:spPr>
          <a:xfrm>
            <a:off x="4980871" y="1660666"/>
            <a:ext cx="18168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3C78D8"/>
                </a:solidFill>
              </a:rPr>
              <a:t>Solutions</a:t>
            </a:r>
            <a:endParaRPr sz="2600">
              <a:solidFill>
                <a:srgbClr val="3C78D8"/>
              </a:solidFill>
            </a:endParaRPr>
          </a:p>
        </p:txBody>
      </p:sp>
      <p:sp>
        <p:nvSpPr>
          <p:cNvPr id="690" name="Google Shape;690;p74"/>
          <p:cNvSpPr txBox="1"/>
          <p:nvPr>
            <p:ph idx="2" type="subTitle"/>
          </p:nvPr>
        </p:nvSpPr>
        <p:spPr>
          <a:xfrm>
            <a:off x="4980871" y="2076263"/>
            <a:ext cx="3609600" cy="137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Allocated 4GB ram to Wazuh Server, 2G to Windows Endpoint, 2G to Linux Endpoint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Corrected the decoder and created rule 100100 and 100101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5"/>
          <p:cNvSpPr txBox="1"/>
          <p:nvPr>
            <p:ph type="title"/>
          </p:nvPr>
        </p:nvSpPr>
        <p:spPr>
          <a:xfrm>
            <a:off x="2679725" y="991813"/>
            <a:ext cx="5888400" cy="49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22">
                <a:solidFill>
                  <a:srgbClr val="3C78D8"/>
                </a:solidFill>
              </a:rPr>
              <a:t>Recommendations / Next Steps</a:t>
            </a:r>
            <a:endParaRPr sz="3122">
              <a:solidFill>
                <a:srgbClr val="3C78D8"/>
              </a:solidFill>
            </a:endParaRPr>
          </a:p>
        </p:txBody>
      </p:sp>
      <p:sp>
        <p:nvSpPr>
          <p:cNvPr id="696" name="Google Shape;696;p75"/>
          <p:cNvSpPr/>
          <p:nvPr/>
        </p:nvSpPr>
        <p:spPr>
          <a:xfrm>
            <a:off x="2679725" y="1548279"/>
            <a:ext cx="6076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What I'd build next with another week</a:t>
            </a:r>
            <a:endParaRPr b="0" i="0" sz="12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75"/>
          <p:cNvSpPr/>
          <p:nvPr/>
        </p:nvSpPr>
        <p:spPr>
          <a:xfrm>
            <a:off x="2782800" y="1762958"/>
            <a:ext cx="6076500" cy="21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genuine DNS query logging to close a real visibility gap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Broaden the brute-force rule to catch credential-spraying across multiple account</a:t>
            </a: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6"/>
          <p:cNvSpPr txBox="1"/>
          <p:nvPr>
            <p:ph type="title"/>
          </p:nvPr>
        </p:nvSpPr>
        <p:spPr>
          <a:xfrm>
            <a:off x="37792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03" name="Google Shape;703;p76"/>
          <p:cNvSpPr txBox="1"/>
          <p:nvPr/>
        </p:nvSpPr>
        <p:spPr>
          <a:xfrm>
            <a:off x="4124700" y="2790900"/>
            <a:ext cx="89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